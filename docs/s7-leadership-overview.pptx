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AI-Assisted Delivery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BDD0E9"/>
                </a:solidFill>
                <a:latin typeface="Calibri"/>
              </a:rPr>
              <a:t>From business requirement to production release — with humans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FA8C8"/>
                </a:solidFill>
                <a:latin typeface="Calibri"/>
              </a:rPr>
              <a:t>S7 · Delivery Scope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The idea, in one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1F3864"/>
                </a:solidFill>
                <a:latin typeface="Calibri"/>
              </a:rPr>
              <a:t>AI does the heavy lifting of delivery —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2E74B5"/>
                </a:solidFill>
                <a:latin typeface="Calibri"/>
              </a:rPr>
              <a:t>analysis, design, stories, code, tests, documentation —</a:t>
            </a:r>
          </a:p>
          <a:p>
            <a:pPr algn="ctr">
              <a:spcAft>
                <a:spcPts val="800"/>
              </a:spcAft>
            </a:pPr>
            <a:r>
              <a:rPr sz="3200" b="1">
                <a:solidFill>
                  <a:srgbClr val="1F3864"/>
                </a:solidFill>
                <a:latin typeface="Calibri"/>
              </a:rPr>
              <a:t>and nothing reaches production without passing our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Calibri"/>
              </a:rPr>
              <a:t>Not a black box. Every step is gated, logged, and traceable.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How work will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One pipeline, start to finish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298448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
requirement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6479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2423160"/>
            <a:ext cx="1298448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
assessment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2783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423160"/>
            <a:ext cx="1298448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design
(diagrams)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9087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2423160"/>
            <a:ext cx="1298448" cy="960120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HUMAN
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5391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423160"/>
            <a:ext cx="1298448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
stories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1695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8119" y="2423160"/>
            <a:ext cx="1298448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Build &amp;
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7999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59" y="2423160"/>
            <a:ext cx="1298448" cy="960120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HUMAN
APPROVAL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43032" y="2779776"/>
            <a:ext cx="237744" cy="256032"/>
          </a:xfrm>
          <a:prstGeom prst="rightArrow">
            <a:avLst/>
          </a:prstGeom>
          <a:solidFill>
            <a:srgbClr val="AF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44199" y="2423160"/>
            <a:ext cx="1298448" cy="9601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Aft>
                <a:spcPts val="1200"/>
              </a:spcAft>
            </a:pPr>
            <a:r>
              <a:rPr sz="1900" b="0">
                <a:solidFill>
                  <a:srgbClr val="595959"/>
                </a:solidFill>
                <a:latin typeface="Calibri"/>
              </a:rPr>
              <a:t>•  AI prepares every deliverable: assessment, design diagrams, stories, code, tests, docs.</a:t>
            </a:r>
          </a:p>
          <a:p>
            <a:pPr algn="l" marL="256032" indent="-256032">
              <a:spcAft>
                <a:spcPts val="1200"/>
              </a:spcAft>
            </a:pPr>
            <a:r>
              <a:rPr sz="1900" b="0">
                <a:solidFill>
                  <a:srgbClr val="595959"/>
                </a:solidFill>
                <a:latin typeface="Calibri"/>
              </a:rPr>
              <a:t>•  The amber boxes are decision points — a person reviews and approves before work continues.</a:t>
            </a:r>
          </a:p>
          <a:p>
            <a:pPr algn="l" marL="256032" indent="-256032">
              <a:spcAft>
                <a:spcPts val="1200"/>
              </a:spcAft>
            </a:pPr>
            <a:r>
              <a:rPr sz="1900" b="0">
                <a:solidFill>
                  <a:srgbClr val="595959"/>
                </a:solidFill>
                <a:latin typeface="Calibri"/>
              </a:rPr>
              <a:t>•  If the reviewer rejects, the pipeline stops. That is by design, not a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Nothing advances without passing a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Five checkpoints from intake to release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Gates 0–2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01952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E74B5"/>
                </a:solidFill>
                <a:latin typeface="Calibri"/>
              </a:rPr>
              <a:t>Completeness checks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Is every requirement mapped to a story? Is every story testable? Automated checks — before any human spends time reviewing.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73552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E74B5"/>
                </a:solidFill>
                <a:latin typeface="Calibri"/>
              </a:rPr>
              <a:t>Independent review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A second, separate AI reviews the first one's work against the design. Critical gaps block progress. No phase approves its own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2103120" cy="1005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Gate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645152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E74B5"/>
                </a:solidFill>
                <a:latin typeface="Calibri"/>
              </a:rPr>
              <a:t>Human approval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A person makes the final call before release. The system cannot ship on its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789920" cy="502920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The gates are real: a rejection stops the pipeline. We will demonstrate that 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Every output can be traced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If something is wrong, we can find out why in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66360" cy="187451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/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Provenance ledger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595959"/>
                </a:solidFill>
                <a:latin typeface="Calibri"/>
              </a:rPr>
              <a:t>A tamper-evident record of every artifact: who made it, when, and from what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166360" cy="187451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/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Traceability matrix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595959"/>
                </a:solidFill>
                <a:latin typeface="Calibri"/>
              </a:rPr>
              <a:t>Requirement → design → story → code → test → release, linked end to end. A defect traces backward in one lookup.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66360" cy="187451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/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Activity log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595959"/>
                </a:solidFill>
                <a:latin typeface="Calibri"/>
              </a:rPr>
              <a:t>Every AI session logged: what it did, how long it took, what it produced. Shows real velocity and real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77639"/>
            <a:ext cx="5166360" cy="187451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28600"/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Staleness detection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595959"/>
                </a:solidFill>
                <a:latin typeface="Calibri"/>
              </a:rPr>
              <a:t>If a design changes, everything built on it is flagged out-of-date and must be refreshed before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The ten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Grouped by what they do for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29000" cy="397763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297180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Keeps humans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Gated pipeline (5 gates)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Completeness checks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Independent review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Staleness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397763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297180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TRUST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880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Proves 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Provenance ledger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Traceability matrix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Activity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29000" cy="3977639"/>
          </a:xfrm>
          <a:prstGeom prst="roundRect">
            <a:avLst/>
          </a:prstGeom>
          <a:solidFill>
            <a:srgbClr val="F2F5FA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275320" y="2148840"/>
            <a:ext cx="2971800" cy="548640"/>
          </a:xfrm>
          <a:prstGeom prst="round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80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Makes it repeatable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Four-layer architecture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Story quality standards</a:t>
            </a:r>
          </a:p>
          <a:p>
            <a:pPr algn="l" marL="256032" indent="-256032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•  Change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Ten features. Three jobs. One governed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Calibri"/>
              </a:rPr>
              <a:t>What happens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201168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Aft>
                <a:spcPts val="1800"/>
              </a:spcAft>
            </a:pPr>
            <a:r>
              <a:rPr sz="2100" b="0">
                <a:solidFill>
                  <a:srgbClr val="1F3864"/>
                </a:solidFill>
                <a:latin typeface="Calibri"/>
              </a:rPr>
              <a:t>•  We build these ten capabilities point by point, in priority order.</a:t>
            </a:r>
          </a:p>
          <a:p>
            <a:pPr algn="l" marL="256032" indent="-256032">
              <a:spcAft>
                <a:spcPts val="1800"/>
              </a:spcAft>
            </a:pPr>
            <a:r>
              <a:rPr sz="2100" b="0">
                <a:solidFill>
                  <a:srgbClr val="1F3864"/>
                </a:solidFill>
                <a:latin typeface="Calibri"/>
              </a:rPr>
              <a:t>•  Every stage ends with something that runs — a working demo, not a slide.</a:t>
            </a:r>
          </a:p>
          <a:p>
            <a:pPr algn="l" marL="256032" indent="-256032">
              <a:spcAft>
                <a:spcPts val="1800"/>
              </a:spcAft>
            </a:pPr>
            <a:r>
              <a:rPr sz="2100" b="0">
                <a:solidFill>
                  <a:srgbClr val="1F3864"/>
                </a:solidFill>
                <a:latin typeface="Calibri"/>
              </a:rPr>
              <a:t>•  Anything simulated is clearly labelled as simulated. What you see live is real.</a:t>
            </a:r>
          </a:p>
          <a:p>
            <a:pPr algn="l" marL="256032" indent="-256032">
              <a:spcAft>
                <a:spcPts val="1800"/>
              </a:spcAft>
            </a:pPr>
            <a:r>
              <a:rPr sz="2100" b="0">
                <a:solidFill>
                  <a:srgbClr val="1F3864"/>
                </a:solidFill>
                <a:latin typeface="Calibri"/>
              </a:rPr>
              <a:t>•  Human checkpoints stay on until a workflow has proven itself — autonomy is earned, not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57800"/>
            <a:ext cx="1051560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You will see the pipeline run end to end, watch a gate block bad work, and trace an output back to its requirement.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8FA8C8"/>
                </a:solidFill>
                <a:latin typeface="Calibri"/>
              </a:rPr>
              <a:t>THE TAKEAWAY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Speed from AI.</a:t>
            </a:r>
          </a:p>
          <a:p>
            <a:pPr algn="l">
              <a:spcAft>
                <a:spcPts val="2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Confidence from governance.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BDD0E9"/>
                </a:solidFill>
                <a:latin typeface="Calibri"/>
              </a:rPr>
              <a:t>Every artifact gated, logged, and traceable — and a human always holds the final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